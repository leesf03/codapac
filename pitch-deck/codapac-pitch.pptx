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EEF4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D9E6F2"/>
          </a:solidFill>
          <a:ln w="12700">
            <a:solidFill>
              <a:srgbClr val="D9E6F2"/>
            </a:solidFill>
            <a:prstDash val="solid"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84168" y="2651760"/>
            <a:ext cx="1143000" cy="1143000"/>
          </a:xfrm>
          <a:prstGeom prst="roundRect">
            <a:avLst>
              <a:gd name="adj" fmla="val 20800"/>
            </a:avLst>
          </a:prstGeom>
          <a:solidFill>
            <a:srgbClr val="EA6D1E"/>
          </a:solidFill>
          <a:ln w="12700">
            <a:solidFill>
              <a:srgbClr val="EA6D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84168" y="2651760"/>
            <a:ext cx="1143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55768" y="2651760"/>
            <a:ext cx="5486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spc="8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CODA</a:t>
            </a:r>
            <a:pPr indent="0" marL="0">
              <a:buNone/>
            </a:pPr>
            <a:r>
              <a:rPr lang="en-US" sz="5400" b="1" spc="800" kern="0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</a:t>
            </a:r>
            <a:pPr indent="0" marL="0">
              <a:buNone/>
            </a:pPr>
            <a:r>
              <a:rPr lang="en-US" sz="5400" b="1" spc="800" kern="0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828800" y="4297680"/>
            <a:ext cx="853409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familiar software delivery workspace </a:t>
            </a:r>
            <a:pPr algn="ctr" indent="0" marL="0">
              <a:buNone/>
            </a:pPr>
            <a:r>
              <a:rPr lang="en-US" sz="2000" i="1" dirty="0">
                <a:solidFill>
                  <a:srgbClr val="EA6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non-technical builders.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7432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EA6D1E"/>
          </a:solidFill>
          <a:ln w="12700">
            <a:solidFill>
              <a:srgbClr val="EA6D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743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43584" y="27432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CODA</a:t>
            </a:r>
            <a:pPr indent="0" marL="0">
              <a:buNone/>
            </a:pPr>
            <a:r>
              <a:rPr lang="en-US" sz="1000" b="1" spc="300" kern="0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</a:t>
            </a:r>
            <a:pPr indent="0" marL="0">
              <a:buNone/>
            </a:pPr>
            <a:r>
              <a:rPr lang="en-US" sz="1000" b="1" spc="300" kern="0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25535" y="27432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   02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05156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THE PROBLEM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371600"/>
            <a:ext cx="1054577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Non-technical people are already building. </a:t>
            </a:r>
            <a:pPr indent="0" marL="0">
              <a:lnSpc>
                <a:spcPct val="105000"/>
              </a:lnSpc>
              <a:buNone/>
            </a:pPr>
            <a:r>
              <a:rPr lang="en-US" sz="3800" i="1" dirty="0">
                <a:solidFill>
                  <a:srgbClr val="EA6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just can't see what's happening.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105457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A3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Founders, PMs, and domain experts already shape the product every day. But their role gets flattened into chats, documents, and waiting for someone technical to translate.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931920"/>
            <a:ext cx="3362858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206240"/>
            <a:ext cx="2814218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9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· CHATS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4480560"/>
            <a:ext cx="281421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context, </a:t>
            </a:r>
            <a:pPr indent="0" marL="0">
              <a:lnSpc>
                <a:spcPct val="110000"/>
              </a:lnSpc>
              <a:buNone/>
            </a:pPr>
            <a:r>
              <a:rPr lang="en-US" sz="2000" i="1" dirty="0">
                <a:solidFill>
                  <a:srgbClr val="EA6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structure.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5486400"/>
            <a:ext cx="2814218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and decisions scatter across Slack threads, DMs, and AI replies. Nothing survives the week.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14418" y="3931920"/>
            <a:ext cx="3362858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88738" y="4206240"/>
            <a:ext cx="2814218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9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· DOCS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88738" y="4480560"/>
            <a:ext cx="281421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Easy to write, </a:t>
            </a:r>
            <a:pPr indent="0" marL="0">
              <a:lnSpc>
                <a:spcPct val="110000"/>
              </a:lnSpc>
              <a:buNone/>
            </a:pPr>
            <a:r>
              <a:rPr lang="en-US" sz="2000" i="1" dirty="0">
                <a:solidFill>
                  <a:srgbClr val="EA6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 to act on.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88738" y="5486400"/>
            <a:ext cx="2814218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Specs and briefs pile up in Notion. They describe the work, but never actually move it forward.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05877" y="3931920"/>
            <a:ext cx="3362858" cy="192024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80197" y="4206240"/>
            <a:ext cx="2814218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9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· WAITING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80197" y="4480560"/>
            <a:ext cx="281421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step needs </a:t>
            </a:r>
            <a:pPr indent="0" marL="0">
              <a:lnSpc>
                <a:spcPct val="110000"/>
              </a:lnSpc>
              <a:buNone/>
            </a:pPr>
            <a:r>
              <a:rPr lang="en-US" sz="2000" i="1" dirty="0">
                <a:solidFill>
                  <a:srgbClr val="EA6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translator.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80197" y="5486400"/>
            <a:ext cx="2814218" cy="91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stalls behind a developer who has to interpret, estimate, and relay every change.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6080760"/>
            <a:ext cx="1054577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chat interfaces aren't enough — software work is naturally </a:t>
            </a:r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task-based, stateful, and collaborative.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7432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EA6D1E"/>
          </a:solidFill>
          <a:ln w="12700">
            <a:solidFill>
              <a:srgbClr val="EA6D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743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43584" y="27432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CODA</a:t>
            </a:r>
            <a:pPr indent="0" marL="0">
              <a:buNone/>
            </a:pPr>
            <a:r>
              <a:rPr lang="en-US" sz="1000" b="1" spc="300" kern="0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</a:t>
            </a:r>
            <a:pPr indent="0" marL="0">
              <a:buNone/>
            </a:pPr>
            <a:r>
              <a:rPr lang="en-US" sz="1000" b="1" spc="300" kern="0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25535" y="27432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Insight     03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05156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THE INSIGHT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371600"/>
            <a:ext cx="1054577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don't need a reply. </a:t>
            </a:r>
            <a:pPr indent="0" marL="0">
              <a:lnSpc>
                <a:spcPct val="105000"/>
              </a:lnSpc>
              <a:buNone/>
            </a:pPr>
            <a:r>
              <a:rPr lang="en-US" sz="3800" i="1" dirty="0">
                <a:solidFill>
                  <a:srgbClr val="EA6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need a workspace.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105457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A3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who ships work is comfortable with </a:t>
            </a:r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boards, tasks, and visible workflow.</a:t>
            </a:r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A3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Software should feel the same — not a black box.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977640"/>
            <a:ext cx="5135728" cy="233172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4206240"/>
            <a:ext cx="4587088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9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ONLY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" y="4480560"/>
            <a:ext cx="4587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Talk. </a:t>
            </a:r>
            <a:pPr indent="0" marL="0">
              <a:buNone/>
            </a:pPr>
            <a:r>
              <a:rPr lang="en-US" sz="2200" i="1" dirty="0">
                <a:solidFill>
                  <a:srgbClr val="EA6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Hope.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97280" y="5074920"/>
            <a:ext cx="458708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3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persistent state between turns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97280" y="5349240"/>
            <a:ext cx="458708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3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Invisible progress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97280" y="5623560"/>
            <a:ext cx="458708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3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One operator at a time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97280" y="5897880"/>
            <a:ext cx="458708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A3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structure to follow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33008" y="3977640"/>
            <a:ext cx="5135728" cy="2331720"/>
          </a:xfrm>
          <a:prstGeom prst="roundRect">
            <a:avLst>
              <a:gd name="adj" fmla="val 7059"/>
            </a:avLst>
          </a:prstGeom>
          <a:solidFill>
            <a:srgbClr val="101418"/>
          </a:solidFill>
          <a:ln w="12700">
            <a:solidFill>
              <a:srgbClr val="1014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07328" y="4206240"/>
            <a:ext cx="4587088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900" b="1" spc="400" kern="0" dirty="0">
                <a:solidFill>
                  <a:srgbClr val="FF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CODAPAC WORKSPACE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507328" y="4480560"/>
            <a:ext cx="458708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Plan. Build. </a:t>
            </a:r>
            <a:pPr indent="0" marL="0">
              <a:buNone/>
            </a:pPr>
            <a:r>
              <a:rPr lang="en-US" sz="2200" i="1" dirty="0">
                <a:solidFill>
                  <a:srgbClr val="EA6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it ship.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07328" y="5074920"/>
            <a:ext cx="458708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B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Project state you can scan at a glance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07328" y="5349240"/>
            <a:ext cx="458708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B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 step visible on a board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07328" y="5623560"/>
            <a:ext cx="458708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B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Shared context for the whole team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07328" y="5897880"/>
            <a:ext cx="458708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DBDC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Familiar structure, powered by AI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7432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EA6D1E"/>
          </a:solidFill>
          <a:ln w="12700">
            <a:solidFill>
              <a:srgbClr val="EA6D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743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43584" y="27432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CODA</a:t>
            </a:r>
            <a:pPr indent="0" marL="0">
              <a:buNone/>
            </a:pPr>
            <a:r>
              <a:rPr lang="en-US" sz="1000" b="1" spc="300" kern="0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</a:t>
            </a:r>
            <a:pPr indent="0" marL="0">
              <a:buNone/>
            </a:pPr>
            <a:r>
              <a:rPr lang="en-US" sz="1000" b="1" spc="300" kern="0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25535" y="27432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     04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05156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THE SOLUTION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371600"/>
            <a:ext cx="1054577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workspace for </a:t>
            </a:r>
            <a:pPr indent="0" marL="0">
              <a:lnSpc>
                <a:spcPct val="105000"/>
              </a:lnSpc>
              <a:buNone/>
            </a:pPr>
            <a:r>
              <a:rPr lang="en-US" sz="4200" i="1" dirty="0">
                <a:solidFill>
                  <a:srgbClr val="EA6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whole delivery flow.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A3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planning, execution, QA, and deployment — in one familiar environment that feels like a real product workspace.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794760"/>
            <a:ext cx="3393338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402336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CEBDE"/>
          </a:solidFill>
          <a:ln w="12700">
            <a:solidFill>
              <a:srgbClr val="FCEB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0233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08760" y="4005072"/>
            <a:ext cx="24789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chat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4480560"/>
            <a:ext cx="29361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conversation with the AI squad, scoped to one project.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99178" y="3794760"/>
            <a:ext cx="3393338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27778" y="402336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CEBDE"/>
          </a:solidFill>
          <a:ln w="12700">
            <a:solidFill>
              <a:srgbClr val="FCEB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7778" y="40233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84978" y="4005072"/>
            <a:ext cx="24789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Kanban board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27778" y="4480560"/>
            <a:ext cx="29361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Plan, Build, QA, Shipped — the lanes every team already knows.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975397" y="3794760"/>
            <a:ext cx="3393338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03997" y="402336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CEBDE"/>
          </a:solidFill>
          <a:ln w="12700">
            <a:solidFill>
              <a:srgbClr val="FCEB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03997" y="402336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61197" y="4005072"/>
            <a:ext cx="24789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planning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03997" y="4480560"/>
            <a:ext cx="29361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becomes reviewable tasks, not an invisible prompt.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22960" y="5212080"/>
            <a:ext cx="3393338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51560" y="544068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CEBDE"/>
          </a:solidFill>
          <a:ln w="12700">
            <a:solidFill>
              <a:srgbClr val="FCEB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54406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08760" y="5422392"/>
            <a:ext cx="24789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 tracking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51560" y="5897880"/>
            <a:ext cx="29361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status as agents pick up, work, and hand off each task.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399178" y="5212080"/>
            <a:ext cx="3393338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27778" y="544068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CEBDE"/>
          </a:solidFill>
          <a:ln w="12700">
            <a:solidFill>
              <a:srgbClr val="FCEB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27778" y="54406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084978" y="5422392"/>
            <a:ext cx="24789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QA status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627778" y="5897880"/>
            <a:ext cx="29361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checks, and previews surfaced beside the work, not hidden.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975397" y="5212080"/>
            <a:ext cx="3393338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03997" y="544068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CEBDE"/>
          </a:solidFill>
          <a:ln w="12700">
            <a:solidFill>
              <a:srgbClr val="FCEB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03997" y="544068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661197" y="5422392"/>
            <a:ext cx="247893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visibility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8203997" y="5897880"/>
            <a:ext cx="29361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URLs and releases shown in-project, one click to open.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7432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EA6D1E"/>
          </a:solidFill>
          <a:ln w="12700">
            <a:solidFill>
              <a:srgbClr val="EA6D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743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43584" y="27432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CODA</a:t>
            </a:r>
            <a:pPr indent="0" marL="0">
              <a:buNone/>
            </a:pPr>
            <a:r>
              <a:rPr lang="en-US" sz="1000" b="1" spc="300" kern="0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</a:t>
            </a:r>
            <a:pPr indent="0" marL="0">
              <a:buNone/>
            </a:pPr>
            <a:r>
              <a:rPr lang="en-US" sz="1000" b="1" spc="300" kern="0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25535" y="27432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     05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05156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WHY THIS MATTERS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371600"/>
            <a:ext cx="1054577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Visibility. Control. </a:t>
            </a:r>
            <a:pPr indent="0" marL="0">
              <a:lnSpc>
                <a:spcPct val="105000"/>
              </a:lnSpc>
              <a:buNone/>
            </a:pPr>
            <a:r>
              <a:rPr lang="en-US" sz="4600" i="1" dirty="0">
                <a:solidFill>
                  <a:srgbClr val="EA6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Trust.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A3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isn't only what the AI produces — it's what the humans around it can see, steer, and believe in.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794760"/>
            <a:ext cx="3362858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5568" y="4087368"/>
            <a:ext cx="277764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9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5568" y="4361688"/>
            <a:ext cx="277764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Non-technical stakeholders </a:t>
            </a:r>
            <a:pPr indent="0" marL="0">
              <a:lnSpc>
                <a:spcPct val="110000"/>
              </a:lnSpc>
              <a:buNone/>
            </a:pPr>
            <a:r>
              <a:rPr lang="en-US" sz="2000" i="1" dirty="0">
                <a:solidFill>
                  <a:srgbClr val="EA6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drive, not wait.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15568" y="5367528"/>
            <a:ext cx="2777642" cy="649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scope, approve tasks, and redirect work without booking a sync with a developer.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14418" y="3794760"/>
            <a:ext cx="3362858" cy="2514600"/>
          </a:xfrm>
          <a:prstGeom prst="roundRect">
            <a:avLst>
              <a:gd name="adj" fmla="val 5455"/>
            </a:avLst>
          </a:prstGeom>
          <a:solidFill>
            <a:srgbClr val="101418"/>
          </a:solidFill>
          <a:ln w="9525">
            <a:solidFill>
              <a:srgbClr val="1014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7026" y="4087368"/>
            <a:ext cx="277764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900" b="1" spc="400" kern="0" dirty="0">
                <a:solidFill>
                  <a:srgbClr val="C9C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07026" y="4361688"/>
            <a:ext cx="277764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stage is </a:t>
            </a:r>
            <a:pPr indent="0" marL="0">
              <a:lnSpc>
                <a:spcPct val="110000"/>
              </a:lnSpc>
              <a:buNone/>
            </a:pPr>
            <a:r>
              <a:rPr lang="en-US" sz="2000" i="1" dirty="0">
                <a:solidFill>
                  <a:srgbClr val="EA6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observable, not implied.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07026" y="5367528"/>
            <a:ext cx="2777642" cy="649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B9B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Plans, progress, QA, and deploys live on one board — nothing hides in a developer's head.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05877" y="3794760"/>
            <a:ext cx="3362858" cy="25146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98485" y="4087368"/>
            <a:ext cx="2777642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9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98485" y="4361688"/>
            <a:ext cx="277764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Progress is </a:t>
            </a:r>
            <a:pPr indent="0" marL="0">
              <a:lnSpc>
                <a:spcPct val="110000"/>
              </a:lnSpc>
              <a:buNone/>
            </a:pPr>
            <a:r>
              <a:rPr lang="en-US" sz="2000" i="1" dirty="0">
                <a:solidFill>
                  <a:srgbClr val="EA6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shown, not promised.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98485" y="5367528"/>
            <a:ext cx="2777642" cy="649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delivery replaces "almost done" with a status anyone on the team can verify.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7432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EA6D1E"/>
          </a:solidFill>
          <a:ln w="12700">
            <a:solidFill>
              <a:srgbClr val="EA6D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743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43584" y="27432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CODA</a:t>
            </a:r>
            <a:pPr indent="0" marL="0">
              <a:buNone/>
            </a:pPr>
            <a:r>
              <a:rPr lang="en-US" sz="1000" b="1" spc="300" kern="0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</a:t>
            </a:r>
            <a:pPr indent="0" marL="0">
              <a:buNone/>
            </a:pPr>
            <a:r>
              <a:rPr lang="en-US" sz="1000" b="1" spc="300" kern="0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25535" y="27432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    06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05156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HOW IT WORKS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371600"/>
            <a:ext cx="1054577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800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 in. </a:t>
            </a:r>
            <a:pPr indent="0" marL="0">
              <a:lnSpc>
                <a:spcPct val="105000"/>
              </a:lnSpc>
              <a:buNone/>
            </a:pPr>
            <a:r>
              <a:rPr lang="en-US" sz="4800" i="1" dirty="0">
                <a:solidFill>
                  <a:srgbClr val="EA6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out.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A3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familiar steps. No ceremony. No sprint-planning theatre.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657600"/>
            <a:ext cx="1635709" cy="1828800"/>
          </a:xfrm>
          <a:prstGeom prst="roundRect">
            <a:avLst>
              <a:gd name="adj" fmla="val 6708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3886200"/>
            <a:ext cx="123337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24128" y="4160520"/>
            <a:ext cx="1233373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 project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4800600"/>
            <a:ext cx="1233373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it. Pick a repo or start fresh.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04973" y="3657600"/>
            <a:ext cx="1635709" cy="1828800"/>
          </a:xfrm>
          <a:prstGeom prst="roundRect">
            <a:avLst>
              <a:gd name="adj" fmla="val 6708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06141" y="3886200"/>
            <a:ext cx="123337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806141" y="4160520"/>
            <a:ext cx="1233373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Describe what you want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06141" y="4800600"/>
            <a:ext cx="1233373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English. No templates, no jargon.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86986" y="3657600"/>
            <a:ext cx="1635709" cy="1828800"/>
          </a:xfrm>
          <a:prstGeom prst="roundRect">
            <a:avLst>
              <a:gd name="adj" fmla="val 6708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88154" y="3886200"/>
            <a:ext cx="123337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88154" y="4160520"/>
            <a:ext cx="1233373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generated tasks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88154" y="4800600"/>
            <a:ext cx="1233373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edit, or reorder on the board.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69000" y="3657600"/>
            <a:ext cx="1635709" cy="1828800"/>
          </a:xfrm>
          <a:prstGeom prst="roundRect">
            <a:avLst>
              <a:gd name="adj" fmla="val 6708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70168" y="3886200"/>
            <a:ext cx="123337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70168" y="4160520"/>
            <a:ext cx="1233373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 execution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70168" y="4800600"/>
            <a:ext cx="1233373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agents move tasks through the lanes.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951013" y="3657600"/>
            <a:ext cx="1635709" cy="1828800"/>
          </a:xfrm>
          <a:prstGeom prst="roundRect">
            <a:avLst>
              <a:gd name="adj" fmla="val 6708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52181" y="3886200"/>
            <a:ext cx="123337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52181" y="4160520"/>
            <a:ext cx="1233373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QA results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52181" y="4800600"/>
            <a:ext cx="1233373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Checks, tests, and reviews — inline.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733026" y="3657600"/>
            <a:ext cx="1635709" cy="1828800"/>
          </a:xfrm>
          <a:prstGeom prst="roundRect">
            <a:avLst>
              <a:gd name="adj" fmla="val 6708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34194" y="3886200"/>
            <a:ext cx="123337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934194" y="4160520"/>
            <a:ext cx="1233373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the preview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934194" y="4800600"/>
            <a:ext cx="1233373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deployed URL, ready to share.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22960" y="5715000"/>
            <a:ext cx="1054577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important part: you're not just reading a chat reply. You're </a:t>
            </a:r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a real project move.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7432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EA6D1E"/>
          </a:solidFill>
          <a:ln w="12700">
            <a:solidFill>
              <a:srgbClr val="EA6D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743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43584" y="27432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CODA</a:t>
            </a:r>
            <a:pPr indent="0" marL="0">
              <a:buNone/>
            </a:pPr>
            <a:r>
              <a:rPr lang="en-US" sz="1000" b="1" spc="300" kern="0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</a:t>
            </a:r>
            <a:pPr indent="0" marL="0">
              <a:buNone/>
            </a:pPr>
            <a:r>
              <a:rPr lang="en-US" sz="1000" b="1" spc="300" kern="0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25535" y="27432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    07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05156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KEY FEATURES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371600"/>
            <a:ext cx="1054577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delivery, </a:t>
            </a:r>
            <a:pPr indent="0" marL="0">
              <a:lnSpc>
                <a:spcPct val="105000"/>
              </a:lnSpc>
              <a:buNone/>
            </a:pPr>
            <a:r>
              <a:rPr lang="en-US" sz="4400" i="1" dirty="0">
                <a:solidFill>
                  <a:srgbClr val="EA6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made familiar.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A3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borrows a pattern users already know — and puts an AI squad behind it.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749040"/>
            <a:ext cx="1962851" cy="219456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40050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CEBDE"/>
          </a:solidFill>
          <a:ln w="12700">
            <a:solidFill>
              <a:srgbClr val="FCEB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005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51560" y="4526280"/>
            <a:ext cx="1505651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Familiar dashboard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5074920"/>
            <a:ext cx="1505651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list, boards, tasks — the shapes teams already use.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968691" y="3749040"/>
            <a:ext cx="1962851" cy="219456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97291" y="40050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CEBDE"/>
          </a:solidFill>
          <a:ln w="12700">
            <a:solidFill>
              <a:srgbClr val="FCEB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97291" y="4005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197291" y="4526280"/>
            <a:ext cx="1505651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Task-based flow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197291" y="5074920"/>
            <a:ext cx="1505651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lives as tasks you can scan, not messages you reread.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114422" y="3749040"/>
            <a:ext cx="1962851" cy="219456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43022" y="40050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CEBDE"/>
          </a:solidFill>
          <a:ln w="12700">
            <a:solidFill>
              <a:srgbClr val="FCEB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3022" y="4005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343022" y="4526280"/>
            <a:ext cx="1505651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Visible transitions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3022" y="5074920"/>
            <a:ext cx="1505651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 task move: Plan → Build → QA → Shipped, in real time.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260153" y="3749040"/>
            <a:ext cx="1962851" cy="219456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88753" y="40050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CEBDE"/>
          </a:solidFill>
          <a:ln w="12700">
            <a:solidFill>
              <a:srgbClr val="FCEB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88753" y="4005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88753" y="4526280"/>
            <a:ext cx="1505651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workspace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88753" y="5074920"/>
            <a:ext cx="1505651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build, QA, and deploy — one surface, one truth.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405884" y="3749040"/>
            <a:ext cx="1962851" cy="219456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34484" y="40050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CEBDE"/>
          </a:solidFill>
          <a:ln w="12700">
            <a:solidFill>
              <a:srgbClr val="FCEB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34484" y="4005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634484" y="4526280"/>
            <a:ext cx="1505651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Inline preview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634484" y="5074920"/>
            <a:ext cx="1505651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URL surfaced in-project — no copy-paste hunts.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7432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EA6D1E"/>
          </a:solidFill>
          <a:ln w="12700">
            <a:solidFill>
              <a:srgbClr val="EA6D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743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43584" y="27432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CODA</a:t>
            </a:r>
            <a:pPr indent="0" marL="0">
              <a:buNone/>
            </a:pPr>
            <a:r>
              <a:rPr lang="en-US" sz="1000" b="1" spc="300" kern="0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</a:t>
            </a:r>
            <a:pPr indent="0" marL="0">
              <a:buNone/>
            </a:pPr>
            <a:r>
              <a:rPr lang="en-US" sz="1000" b="1" spc="300" kern="0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25535" y="27432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     08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05156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WHAT MAKES CODAPAC DIFFERENT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371600"/>
            <a:ext cx="1054577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chatbot. Not a board. </a:t>
            </a:r>
            <a:pPr indent="0" marL="0">
              <a:lnSpc>
                <a:spcPct val="105000"/>
              </a:lnSpc>
              <a:buNone/>
            </a:pPr>
            <a:r>
              <a:rPr lang="en-US" sz="3600" i="1" dirty="0">
                <a:solidFill>
                  <a:srgbClr val="EA6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delivery workspace.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1054577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A3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each solve one slice. Codapac is the first that assembles all of them for non-technical builders.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657600"/>
            <a:ext cx="10545775" cy="2560320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70496" y="3657600"/>
            <a:ext cx="1898240" cy="512064"/>
          </a:xfrm>
          <a:prstGeom prst="rect">
            <a:avLst/>
          </a:prstGeom>
          <a:solidFill>
            <a:srgbClr val="101418"/>
          </a:solidFill>
          <a:ln w="12700">
            <a:solidFill>
              <a:srgbClr val="1014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657600"/>
            <a:ext cx="2587057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4169664"/>
            <a:ext cx="2952817" cy="0"/>
          </a:xfrm>
          <a:prstGeom prst="line">
            <a:avLst/>
          </a:prstGeom>
          <a:noFill/>
          <a:ln w="6350">
            <a:solidFill>
              <a:srgbClr val="DBE3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75777" y="3657600"/>
            <a:ext cx="0" cy="512064"/>
          </a:xfrm>
          <a:prstGeom prst="line">
            <a:avLst/>
          </a:prstGeom>
          <a:noFill/>
          <a:ln w="6350">
            <a:solidFill>
              <a:srgbClr val="DBE3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58657" y="3657600"/>
            <a:ext cx="153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chatbot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75777" y="4169664"/>
            <a:ext cx="1898240" cy="0"/>
          </a:xfrm>
          <a:prstGeom prst="line">
            <a:avLst/>
          </a:prstGeom>
          <a:noFill/>
          <a:ln w="6350">
            <a:solidFill>
              <a:srgbClr val="DBE3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74017" y="3657600"/>
            <a:ext cx="0" cy="512064"/>
          </a:xfrm>
          <a:prstGeom prst="line">
            <a:avLst/>
          </a:prstGeom>
          <a:noFill/>
          <a:ln w="6350">
            <a:solidFill>
              <a:srgbClr val="DBE3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6897" y="3657600"/>
            <a:ext cx="153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board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74017" y="4169664"/>
            <a:ext cx="1898240" cy="0"/>
          </a:xfrm>
          <a:prstGeom prst="line">
            <a:avLst/>
          </a:prstGeom>
          <a:noFill/>
          <a:ln w="6350">
            <a:solidFill>
              <a:srgbClr val="DBE3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72256" y="3657600"/>
            <a:ext cx="0" cy="512064"/>
          </a:xfrm>
          <a:prstGeom prst="line">
            <a:avLst/>
          </a:prstGeom>
          <a:noFill/>
          <a:ln w="6350">
            <a:solidFill>
              <a:srgbClr val="DBE3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55136" y="3657600"/>
            <a:ext cx="153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generator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572256" y="4169664"/>
            <a:ext cx="1898240" cy="0"/>
          </a:xfrm>
          <a:prstGeom prst="line">
            <a:avLst/>
          </a:prstGeom>
          <a:noFill/>
          <a:ln w="6350">
            <a:solidFill>
              <a:srgbClr val="DBE3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470496" y="3657600"/>
            <a:ext cx="0" cy="512064"/>
          </a:xfrm>
          <a:prstGeom prst="line">
            <a:avLst/>
          </a:prstGeom>
          <a:noFill/>
          <a:ln w="6350">
            <a:solidFill>
              <a:srgbClr val="DBE3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53376" y="3657600"/>
            <a:ext cx="1532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Codapac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470496" y="4169664"/>
            <a:ext cx="1898240" cy="0"/>
          </a:xfrm>
          <a:prstGeom prst="line">
            <a:avLst/>
          </a:prstGeom>
          <a:noFill/>
          <a:ln w="6350">
            <a:solidFill>
              <a:srgbClr val="DBE3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169664"/>
            <a:ext cx="2587057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Task-based workflow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22960" y="4681728"/>
            <a:ext cx="2952817" cy="0"/>
          </a:xfrm>
          <a:prstGeom prst="line">
            <a:avLst/>
          </a:prstGeom>
          <a:noFill/>
          <a:ln w="6350">
            <a:solidFill>
              <a:srgbClr val="DBE3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75777" y="4169664"/>
            <a:ext cx="0" cy="512064"/>
          </a:xfrm>
          <a:prstGeom prst="line">
            <a:avLst/>
          </a:prstGeom>
          <a:noFill/>
          <a:ln w="6350">
            <a:solidFill>
              <a:srgbClr val="DBE3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40369" y="4169664"/>
            <a:ext cx="15690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</a:t>
            </a:r>
            <a:pPr indent="0" marL="0">
              <a:buNone/>
            </a:pPr>
            <a:r>
              <a:rPr lang="en-US" sz="1150" dirty="0">
                <a:solidFill>
                  <a:srgbClr val="2A3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Chat-only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775777" y="4681728"/>
            <a:ext cx="1898240" cy="0"/>
          </a:xfrm>
          <a:prstGeom prst="line">
            <a:avLst/>
          </a:prstGeom>
          <a:noFill/>
          <a:ln w="6350">
            <a:solidFill>
              <a:srgbClr val="DBE3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74017" y="4169664"/>
            <a:ext cx="0" cy="512064"/>
          </a:xfrm>
          <a:prstGeom prst="line">
            <a:avLst/>
          </a:prstGeom>
          <a:noFill/>
          <a:ln w="6350">
            <a:solidFill>
              <a:srgbClr val="DBE3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38609" y="4169664"/>
            <a:ext cx="15690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150" dirty="0">
                <a:solidFill>
                  <a:srgbClr val="2A3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Manual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5674017" y="4681728"/>
            <a:ext cx="1898240" cy="0"/>
          </a:xfrm>
          <a:prstGeom prst="line">
            <a:avLst/>
          </a:prstGeom>
          <a:noFill/>
          <a:ln w="6350">
            <a:solidFill>
              <a:srgbClr val="DBE3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72256" y="4169664"/>
            <a:ext cx="0" cy="512064"/>
          </a:xfrm>
          <a:prstGeom prst="line">
            <a:avLst/>
          </a:prstGeom>
          <a:noFill/>
          <a:ln w="6350">
            <a:solidFill>
              <a:srgbClr val="DBE3E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36848" y="4169664"/>
            <a:ext cx="15690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</a:t>
            </a:r>
            <a:pPr indent="0" marL="0">
              <a:buNone/>
            </a:pPr>
            <a:r>
              <a:rPr lang="en-US" sz="1150" dirty="0">
                <a:solidFill>
                  <a:srgbClr val="2A3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None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572256" y="4681728"/>
            <a:ext cx="1898240" cy="0"/>
          </a:xfrm>
          <a:prstGeom prst="line">
            <a:avLst/>
          </a:prstGeom>
          <a:noFill/>
          <a:ln w="6350">
            <a:solidFill>
              <a:srgbClr val="DBE3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470496" y="4169664"/>
            <a:ext cx="0" cy="512064"/>
          </a:xfrm>
          <a:prstGeom prst="line">
            <a:avLst/>
          </a:prstGeom>
          <a:noFill/>
          <a:ln w="6350">
            <a:solidFill>
              <a:srgbClr val="DBE3E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470496" y="4169664"/>
            <a:ext cx="1898240" cy="512064"/>
          </a:xfrm>
          <a:prstGeom prst="rect">
            <a:avLst/>
          </a:prstGeom>
          <a:solidFill>
            <a:srgbClr val="FDF3EB"/>
          </a:solidFill>
          <a:ln w="12700">
            <a:solidFill>
              <a:srgbClr val="FDF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35088" y="4169664"/>
            <a:ext cx="15690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150" b="1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Generated &amp; reviewable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470496" y="4681728"/>
            <a:ext cx="1898240" cy="0"/>
          </a:xfrm>
          <a:prstGeom prst="line">
            <a:avLst/>
          </a:prstGeom>
          <a:noFill/>
          <a:ln w="6350">
            <a:solidFill>
              <a:srgbClr val="DBE3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5840" y="4681728"/>
            <a:ext cx="2587057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execution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822960" y="5193792"/>
            <a:ext cx="2952817" cy="0"/>
          </a:xfrm>
          <a:prstGeom prst="line">
            <a:avLst/>
          </a:prstGeom>
          <a:noFill/>
          <a:ln w="6350">
            <a:solidFill>
              <a:srgbClr val="DBE3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75777" y="4681728"/>
            <a:ext cx="0" cy="512064"/>
          </a:xfrm>
          <a:prstGeom prst="line">
            <a:avLst/>
          </a:prstGeom>
          <a:noFill/>
          <a:ln w="6350">
            <a:solidFill>
              <a:srgbClr val="DBE3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40369" y="4681728"/>
            <a:ext cx="15690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3775777" y="5193792"/>
            <a:ext cx="1898240" cy="0"/>
          </a:xfrm>
          <a:prstGeom prst="line">
            <a:avLst/>
          </a:prstGeom>
          <a:noFill/>
          <a:ln w="6350">
            <a:solidFill>
              <a:srgbClr val="DBE3E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674017" y="4681728"/>
            <a:ext cx="0" cy="512064"/>
          </a:xfrm>
          <a:prstGeom prst="line">
            <a:avLst/>
          </a:prstGeom>
          <a:noFill/>
          <a:ln w="6350">
            <a:solidFill>
              <a:srgbClr val="DBE3E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38609" y="4681728"/>
            <a:ext cx="15690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</a:t>
            </a:r>
            <a:pPr indent="0" marL="0">
              <a:buNone/>
            </a:pPr>
            <a:r>
              <a:rPr lang="en-US" sz="1150" dirty="0">
                <a:solidFill>
                  <a:srgbClr val="2A3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Status only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5674017" y="5193792"/>
            <a:ext cx="1898240" cy="0"/>
          </a:xfrm>
          <a:prstGeom prst="line">
            <a:avLst/>
          </a:prstGeom>
          <a:noFill/>
          <a:ln w="6350">
            <a:solidFill>
              <a:srgbClr val="DBE3EC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572256" y="4681728"/>
            <a:ext cx="0" cy="512064"/>
          </a:xfrm>
          <a:prstGeom prst="line">
            <a:avLst/>
          </a:prstGeom>
          <a:noFill/>
          <a:ln w="6350">
            <a:solidFill>
              <a:srgbClr val="DBE3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36848" y="4681728"/>
            <a:ext cx="15690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7572256" y="5193792"/>
            <a:ext cx="1898240" cy="0"/>
          </a:xfrm>
          <a:prstGeom prst="line">
            <a:avLst/>
          </a:prstGeom>
          <a:noFill/>
          <a:ln w="6350">
            <a:solidFill>
              <a:srgbClr val="DBE3E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470496" y="4681728"/>
            <a:ext cx="0" cy="512064"/>
          </a:xfrm>
          <a:prstGeom prst="line">
            <a:avLst/>
          </a:prstGeom>
          <a:noFill/>
          <a:ln w="6350">
            <a:solidFill>
              <a:srgbClr val="DBE3E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470496" y="4681728"/>
            <a:ext cx="1898240" cy="512064"/>
          </a:xfrm>
          <a:prstGeom prst="rect">
            <a:avLst/>
          </a:prstGeom>
          <a:solidFill>
            <a:srgbClr val="FDF3EB"/>
          </a:solidFill>
          <a:ln w="12700">
            <a:solidFill>
              <a:srgbClr val="FDF3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35088" y="4681728"/>
            <a:ext cx="15690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150" b="1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Live agent lanes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9470496" y="5193792"/>
            <a:ext cx="1898240" cy="0"/>
          </a:xfrm>
          <a:prstGeom prst="line">
            <a:avLst/>
          </a:prstGeom>
          <a:noFill/>
          <a:ln w="6350">
            <a:solidFill>
              <a:srgbClr val="DBE3E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05840" y="5193792"/>
            <a:ext cx="2587057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preview inline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822960" y="5705856"/>
            <a:ext cx="2952817" cy="0"/>
          </a:xfrm>
          <a:prstGeom prst="line">
            <a:avLst/>
          </a:prstGeom>
          <a:noFill/>
          <a:ln w="6350">
            <a:solidFill>
              <a:srgbClr val="DBE3E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775777" y="5193792"/>
            <a:ext cx="0" cy="512064"/>
          </a:xfrm>
          <a:prstGeom prst="line">
            <a:avLst/>
          </a:prstGeom>
          <a:noFill/>
          <a:ln w="6350">
            <a:solidFill>
              <a:srgbClr val="DBE3E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940369" y="5193792"/>
            <a:ext cx="15690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3775777" y="5705856"/>
            <a:ext cx="1898240" cy="0"/>
          </a:xfrm>
          <a:prstGeom prst="line">
            <a:avLst/>
          </a:prstGeom>
          <a:noFill/>
          <a:ln w="6350">
            <a:solidFill>
              <a:srgbClr val="DBE3E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674017" y="5193792"/>
            <a:ext cx="0" cy="512064"/>
          </a:xfrm>
          <a:prstGeom prst="line">
            <a:avLst/>
          </a:prstGeom>
          <a:noFill/>
          <a:ln w="6350">
            <a:solidFill>
              <a:srgbClr val="DBE3E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838609" y="5193792"/>
            <a:ext cx="15690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5674017" y="5705856"/>
            <a:ext cx="1898240" cy="0"/>
          </a:xfrm>
          <a:prstGeom prst="line">
            <a:avLst/>
          </a:prstGeom>
          <a:noFill/>
          <a:ln w="6350">
            <a:solidFill>
              <a:srgbClr val="DBE3E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572256" y="5193792"/>
            <a:ext cx="0" cy="512064"/>
          </a:xfrm>
          <a:prstGeom prst="line">
            <a:avLst/>
          </a:prstGeom>
          <a:noFill/>
          <a:ln w="6350">
            <a:solidFill>
              <a:srgbClr val="DBE3E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736848" y="5193792"/>
            <a:ext cx="15690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</a:t>
            </a:r>
            <a:pPr indent="0" marL="0">
              <a:buNone/>
            </a:pPr>
            <a:r>
              <a:rPr lang="en-US" sz="1150" dirty="0">
                <a:solidFill>
                  <a:srgbClr val="2A3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External</a:t>
            </a:r>
            <a:endParaRPr lang="en-US" sz="1150" dirty="0"/>
          </a:p>
        </p:txBody>
      </p:sp>
      <p:sp>
        <p:nvSpPr>
          <p:cNvPr id="65" name="Shape 63"/>
          <p:cNvSpPr/>
          <p:nvPr/>
        </p:nvSpPr>
        <p:spPr>
          <a:xfrm>
            <a:off x="7572256" y="5705856"/>
            <a:ext cx="1898240" cy="0"/>
          </a:xfrm>
          <a:prstGeom prst="line">
            <a:avLst/>
          </a:prstGeom>
          <a:noFill/>
          <a:ln w="6350">
            <a:solidFill>
              <a:srgbClr val="DBE3E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9470496" y="5193792"/>
            <a:ext cx="0" cy="512064"/>
          </a:xfrm>
          <a:prstGeom prst="line">
            <a:avLst/>
          </a:prstGeom>
          <a:noFill/>
          <a:ln w="6350">
            <a:solidFill>
              <a:srgbClr val="DBE3E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470496" y="5193792"/>
            <a:ext cx="1898240" cy="512064"/>
          </a:xfrm>
          <a:prstGeom prst="rect">
            <a:avLst/>
          </a:prstGeom>
          <a:solidFill>
            <a:srgbClr val="FDF3EB"/>
          </a:solidFill>
          <a:ln w="12700">
            <a:solidFill>
              <a:srgbClr val="FDF3E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635088" y="5193792"/>
            <a:ext cx="15690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150" b="1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Built-in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9470496" y="5705856"/>
            <a:ext cx="1898240" cy="0"/>
          </a:xfrm>
          <a:prstGeom prst="line">
            <a:avLst/>
          </a:prstGeom>
          <a:noFill/>
          <a:ln w="6350">
            <a:solidFill>
              <a:srgbClr val="DBE3EC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05840" y="5705856"/>
            <a:ext cx="2587057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non-technical users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3775777" y="5705856"/>
            <a:ext cx="0" cy="512064"/>
          </a:xfrm>
          <a:prstGeom prst="line">
            <a:avLst/>
          </a:prstGeom>
          <a:noFill/>
          <a:ln w="6350">
            <a:solidFill>
              <a:srgbClr val="DBE3E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940369" y="5705856"/>
            <a:ext cx="15690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73" name="Shape 71"/>
          <p:cNvSpPr/>
          <p:nvPr/>
        </p:nvSpPr>
        <p:spPr>
          <a:xfrm>
            <a:off x="5674017" y="5705856"/>
            <a:ext cx="0" cy="512064"/>
          </a:xfrm>
          <a:prstGeom prst="line">
            <a:avLst/>
          </a:prstGeom>
          <a:noFill/>
          <a:ln w="6350">
            <a:solidFill>
              <a:srgbClr val="DBE3E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838609" y="5705856"/>
            <a:ext cx="15690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75" name="Shape 73"/>
          <p:cNvSpPr/>
          <p:nvPr/>
        </p:nvSpPr>
        <p:spPr>
          <a:xfrm>
            <a:off x="7572256" y="5705856"/>
            <a:ext cx="0" cy="512064"/>
          </a:xfrm>
          <a:prstGeom prst="line">
            <a:avLst/>
          </a:prstGeom>
          <a:noFill/>
          <a:ln w="6350">
            <a:solidFill>
              <a:srgbClr val="DBE3E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736848" y="5705856"/>
            <a:ext cx="15690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</a:t>
            </a:r>
            <a:pPr indent="0" marL="0">
              <a:buNone/>
            </a:pPr>
            <a:endParaRPr lang="en-US" sz="1150" dirty="0"/>
          </a:p>
        </p:txBody>
      </p:sp>
      <p:sp>
        <p:nvSpPr>
          <p:cNvPr id="77" name="Shape 75"/>
          <p:cNvSpPr/>
          <p:nvPr/>
        </p:nvSpPr>
        <p:spPr>
          <a:xfrm>
            <a:off x="9470496" y="5705856"/>
            <a:ext cx="0" cy="512064"/>
          </a:xfrm>
          <a:prstGeom prst="line">
            <a:avLst/>
          </a:prstGeom>
          <a:noFill/>
          <a:ln w="6350">
            <a:solidFill>
              <a:srgbClr val="DBE3E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470496" y="5705856"/>
            <a:ext cx="1898240" cy="512064"/>
          </a:xfrm>
          <a:prstGeom prst="rect">
            <a:avLst/>
          </a:prstGeom>
          <a:solidFill>
            <a:srgbClr val="FDF3EB"/>
          </a:solidFill>
          <a:ln w="12700">
            <a:solidFill>
              <a:srgbClr val="FDF3EB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635088" y="5705856"/>
            <a:ext cx="1569056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7432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EA6D1E"/>
          </a:solidFill>
          <a:ln w="12700">
            <a:solidFill>
              <a:srgbClr val="EA6D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743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43584" y="27432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CODA</a:t>
            </a:r>
            <a:pPr indent="0" marL="0">
              <a:buNone/>
            </a:pPr>
            <a:r>
              <a:rPr lang="en-US" sz="1000" b="1" spc="300" kern="0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</a:t>
            </a:r>
            <a:pPr indent="0" marL="0">
              <a:buNone/>
            </a:pPr>
            <a:r>
              <a:rPr lang="en-US" sz="1000" b="1" spc="300" kern="0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25535" y="27432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     09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05156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TECHNICAL APPROACH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371600"/>
            <a:ext cx="1054577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Orchestration </a:t>
            </a:r>
            <a:pPr indent="0" marL="0">
              <a:lnSpc>
                <a:spcPct val="105000"/>
              </a:lnSpc>
              <a:buNone/>
            </a:pPr>
            <a:r>
              <a:rPr lang="en-US" sz="4200" i="1" dirty="0">
                <a:solidFill>
                  <a:srgbClr val="EA6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 inference.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822960" y="2514600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A3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problem isn't picking a model — it's coordinating state, context, and tool use across a living project.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32688" y="3172968"/>
            <a:ext cx="10326319" cy="3438144"/>
          </a:xfrm>
          <a:prstGeom prst="roundRect">
            <a:avLst>
              <a:gd name="adj" fmla="val 4787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</p:sp>
      <p:pic>
        <p:nvPicPr>
          <p:cNvPr id="10" name="Image 0" descr="C:\Users\loovi\Codapac\codapac\pitch-deck\dashbo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5840" y="3246120"/>
            <a:ext cx="10180015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7432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EA6D1E"/>
          </a:solidFill>
          <a:ln w="12700">
            <a:solidFill>
              <a:srgbClr val="EA6D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743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43584" y="27432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CODA</a:t>
            </a:r>
            <a:pPr indent="0" marL="0">
              <a:buNone/>
            </a:pPr>
            <a:r>
              <a:rPr lang="en-US" sz="1000" b="1" spc="300" kern="0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</a:t>
            </a:r>
            <a:pPr indent="0" marL="0">
              <a:buNone/>
            </a:pPr>
            <a:r>
              <a:rPr lang="en-US" sz="1000" b="1" spc="300" kern="0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25535" y="27432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    10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05156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— DEMO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371600"/>
            <a:ext cx="1054577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 sentence, </a:t>
            </a:r>
            <a:pPr indent="0" marL="0">
              <a:lnSpc>
                <a:spcPct val="105000"/>
              </a:lnSpc>
              <a:buNone/>
            </a:pPr>
            <a:r>
              <a:rPr lang="en-US" sz="4200" i="1" dirty="0">
                <a:solidFill>
                  <a:srgbClr val="EA6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a shipped preview.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2209648" y="2880360"/>
            <a:ext cx="7772400" cy="1143000"/>
          </a:xfrm>
          <a:prstGeom prst="roundRect">
            <a:avLst>
              <a:gd name="adj" fmla="val 16000"/>
            </a:avLst>
          </a:prstGeom>
          <a:solidFill>
            <a:srgbClr val="101418"/>
          </a:solidFill>
          <a:ln w="12700">
            <a:solidFill>
              <a:srgbClr val="1014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29688" y="306324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000" b="1" spc="400" kern="0" dirty="0">
                <a:solidFill>
                  <a:srgbClr val="FF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29688" y="3383280"/>
            <a:ext cx="7132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“Make the hero feel more startup and add pricing.”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821528" y="4096512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3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822960" y="4617720"/>
            <a:ext cx="1962851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818888"/>
            <a:ext cx="1597091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5257800"/>
            <a:ext cx="1597091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spun up from one sentence.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968691" y="4617720"/>
            <a:ext cx="1962851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1571" y="4818888"/>
            <a:ext cx="1597091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151571" y="5257800"/>
            <a:ext cx="1597091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drafted, scoped, ready to review.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14422" y="4617720"/>
            <a:ext cx="1962851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97302" y="4818888"/>
            <a:ext cx="1597091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97302" y="5257800"/>
            <a:ext cx="1597091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execute, state visible on board.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60153" y="4617720"/>
            <a:ext cx="1962851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43033" y="4818888"/>
            <a:ext cx="1597091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43033" y="5257800"/>
            <a:ext cx="1597091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run, mobile + copy verified.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405884" y="4617720"/>
            <a:ext cx="1962851" cy="1463040"/>
          </a:xfrm>
          <a:prstGeom prst="roundRect">
            <a:avLst>
              <a:gd name="adj" fmla="val 8750"/>
            </a:avLst>
          </a:prstGeom>
          <a:solidFill>
            <a:srgbClr val="101418"/>
          </a:solidFill>
          <a:ln w="9525">
            <a:solidFill>
              <a:srgbClr val="10141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02975" y="4800600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88764" y="4818888"/>
            <a:ext cx="1597091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preview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588764" y="5257800"/>
            <a:ext cx="1597091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B9BB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codapac.app/project/acme-landing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194560" y="6355080"/>
            <a:ext cx="780257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 single prompt become a project, a task board, execution, QA, and a live URL — </a:t>
            </a:r>
            <a:pPr algn="ctr" indent="0" marL="0">
              <a:buNone/>
            </a:pPr>
            <a:r>
              <a:rPr lang="en-US" sz="1200" i="1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workspace is the story, not the chat.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7432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EA6D1E"/>
          </a:solidFill>
          <a:ln w="12700">
            <a:solidFill>
              <a:srgbClr val="EA6D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743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43584" y="27432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CODA</a:t>
            </a:r>
            <a:pPr indent="0" marL="0">
              <a:buNone/>
            </a:pPr>
            <a:r>
              <a:rPr lang="en-US" sz="1000" b="1" spc="300" kern="0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</a:t>
            </a:r>
            <a:pPr indent="0" marL="0">
              <a:buNone/>
            </a:pPr>
            <a:r>
              <a:rPr lang="en-US" sz="1000" b="1" spc="300" kern="0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25535" y="27432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    11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05156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— WHO THIS UNLOCKS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371600"/>
            <a:ext cx="1054577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everyone who's been </a:t>
            </a:r>
            <a:pPr indent="0" marL="0">
              <a:lnSpc>
                <a:spcPct val="105000"/>
              </a:lnSpc>
              <a:buNone/>
            </a:pPr>
            <a:r>
              <a:rPr lang="en-US" sz="4000" i="1" dirty="0">
                <a:solidFill>
                  <a:srgbClr val="EA6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locked out of shipping.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2A3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Codapac lowers the friction of joining and driving software projects — wherever ideas start, but developers haven't yet.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749040"/>
            <a:ext cx="1962851" cy="22860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400507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FCEBDE"/>
          </a:solidFill>
          <a:ln w="12700">
            <a:solidFill>
              <a:srgbClr val="FCEB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0050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4572000"/>
            <a:ext cx="1505651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5074920"/>
            <a:ext cx="1505651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from pitch to prototype without hiring first.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968691" y="3749040"/>
            <a:ext cx="1962851" cy="22860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97291" y="400507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FCEBDE"/>
          </a:solidFill>
          <a:ln w="12700">
            <a:solidFill>
              <a:srgbClr val="FCEB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97291" y="40050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197291" y="4572000"/>
            <a:ext cx="1505651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197291" y="5074920"/>
            <a:ext cx="1505651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specs into shipped increments, not status updates.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114422" y="3749040"/>
            <a:ext cx="1962851" cy="22860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43022" y="400507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FCEBDE"/>
          </a:solidFill>
          <a:ln w="12700">
            <a:solidFill>
              <a:srgbClr val="FCEB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43022" y="40050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343022" y="4572000"/>
            <a:ext cx="1505651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43022" y="5074920"/>
            <a:ext cx="1505651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from idea to demo without getting stuck on setup.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260153" y="3749040"/>
            <a:ext cx="1962851" cy="22860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88753" y="400507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FCEBDE"/>
          </a:solidFill>
          <a:ln w="12700">
            <a:solidFill>
              <a:srgbClr val="FCEB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88753" y="40050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88753" y="4572000"/>
            <a:ext cx="1505651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Hackathon teams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88753" y="5074920"/>
            <a:ext cx="1505651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polished projects in 48 hours, not 48% complete.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405884" y="3749040"/>
            <a:ext cx="1962851" cy="22860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DBE3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34484" y="4005072"/>
            <a:ext cx="402336" cy="402336"/>
          </a:xfrm>
          <a:prstGeom prst="roundRect">
            <a:avLst>
              <a:gd name="adj" fmla="val 22727"/>
            </a:avLst>
          </a:prstGeom>
          <a:solidFill>
            <a:srgbClr val="FCEBDE"/>
          </a:solidFill>
          <a:ln w="12700">
            <a:solidFill>
              <a:srgbClr val="FCEB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634484" y="40050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634484" y="4572000"/>
            <a:ext cx="1505651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Non-tech teammates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634484" y="5074920"/>
            <a:ext cx="1505651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 to real code without waiting for a translator.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74320"/>
            <a:ext cx="310896" cy="310896"/>
          </a:xfrm>
          <a:prstGeom prst="roundRect">
            <a:avLst>
              <a:gd name="adj" fmla="val 20588"/>
            </a:avLst>
          </a:prstGeom>
          <a:solidFill>
            <a:srgbClr val="EA6D1E"/>
          </a:solidFill>
          <a:ln w="12700">
            <a:solidFill>
              <a:srgbClr val="EA6D1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743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43584" y="27432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CODA</a:t>
            </a:r>
            <a:pPr indent="0" marL="0">
              <a:buNone/>
            </a:pPr>
            <a:r>
              <a:rPr lang="en-US" sz="1000" b="1" spc="300" kern="0" dirty="0">
                <a:solidFill>
                  <a:srgbClr val="10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</a:t>
            </a:r>
            <a:pPr indent="0" marL="0">
              <a:buNone/>
            </a:pPr>
            <a:r>
              <a:rPr lang="en-US" sz="1000" b="1" spc="300" kern="0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25535" y="274320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   12 /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1097280"/>
            <a:ext cx="1054577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A6D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pPr indent="0" marL="0">
              <a:buNone/>
            </a:pPr>
            <a:r>
              <a:rPr lang="en-US" sz="1000" b="1" spc="4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THE TAKEAWAY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10545775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200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familiar workspace, </a:t>
            </a:r>
            <a:pPr indent="0" marL="0">
              <a:lnSpc>
                <a:spcPct val="105000"/>
              </a:lnSpc>
              <a:buNone/>
            </a:pPr>
            <a:r>
              <a:rPr lang="en-US" sz="4200" i="1" dirty="0">
                <a:solidFill>
                  <a:srgbClr val="EA6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black-box conversation.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105457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A30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Codapac gives non-technical people a real environment to participate in software — with structured visibility and control, not just AI output.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75808" y="4434840"/>
            <a:ext cx="640080" cy="0"/>
          </a:xfrm>
          <a:prstGeom prst="line">
            <a:avLst/>
          </a:prstGeom>
          <a:noFill/>
          <a:ln w="9525">
            <a:solidFill>
              <a:srgbClr val="C3CE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663440"/>
            <a:ext cx="103628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600" i="1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pPr algn="ctr" indent="0" marL="0">
              <a:buNone/>
            </a:pPr>
            <a:r>
              <a:rPr lang="en-US" sz="6600" i="1" dirty="0">
                <a:solidFill>
                  <a:srgbClr val="EA6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6600" dirty="0"/>
          </a:p>
        </p:txBody>
      </p:sp>
      <p:sp>
        <p:nvSpPr>
          <p:cNvPr id="11" name="Text 9"/>
          <p:cNvSpPr/>
          <p:nvPr/>
        </p:nvSpPr>
        <p:spPr>
          <a:xfrm>
            <a:off x="2895448" y="5806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6D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 </a:t>
            </a:r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people who shape products, </a:t>
            </a:r>
            <a:pPr algn="ctr" indent="0" marL="0">
              <a:buNone/>
            </a:pPr>
            <a:r>
              <a:rPr lang="en-US" sz="1200" i="1" dirty="0">
                <a:solidFill>
                  <a:srgbClr val="101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don't write code.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Codapac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Codapac Pitch</dc:title>
  <dc:subject>A familiar software delivery workspace for non-technical builders</dc:subject>
  <dc:creator>Codapac</dc:creator>
  <cp:lastModifiedBy>Codapac</cp:lastModifiedBy>
  <cp:revision>1</cp:revision>
  <dcterms:created xsi:type="dcterms:W3CDTF">2026-04-22T18:06:25Z</dcterms:created>
  <dcterms:modified xsi:type="dcterms:W3CDTF">2026-04-22T18:06:25Z</dcterms:modified>
</cp:coreProperties>
</file>